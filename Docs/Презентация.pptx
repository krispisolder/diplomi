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95" r:id="rId4"/>
    <p:sldId id="288" r:id="rId5"/>
    <p:sldId id="290" r:id="rId6"/>
    <p:sldId id="292" r:id="rId7"/>
    <p:sldId id="296" r:id="rId8"/>
    <p:sldId id="297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5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317" autoAdjust="0"/>
    <p:restoredTop sz="94364" autoAdjust="0"/>
  </p:normalViewPr>
  <p:slideViewPr>
    <p:cSldViewPr snapToGrid="0">
      <p:cViewPr>
        <p:scale>
          <a:sx n="66" d="100"/>
          <a:sy n="66" d="100"/>
        </p:scale>
        <p:origin x="642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89266-1B27-4525-B165-AD1A73342BE1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F4460-6503-445B-8A56-0254AB65E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5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Здравствуйте, уважаемая комиссия! Тема дипломного проекта ……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14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Целью дипломного проектирования является создание 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Задачи </a:t>
            </a:r>
            <a:r>
              <a:rPr lang="ru-RU" sz="1200" b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дипломного проектирования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представлены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…….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Функциональные задачи программного продукта: …….</a:t>
            </a:r>
            <a:endParaRPr lang="ru-RU" sz="1200" b="0" dirty="0">
              <a:solidFill>
                <a:schemeClr val="accent1"/>
              </a:solidFill>
              <a:effectLst/>
              <a:highlight>
                <a:srgbClr val="FFFF00"/>
              </a:highlight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Данная тема актуальна на сегодняшний момент времени, так как …… (если есть)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50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Предметной областью   веб-приложения является….  (если есть)</a:t>
            </a:r>
          </a:p>
          <a:p>
            <a:r>
              <a:rPr lang="ru-RU" dirty="0"/>
              <a:t>Это….. 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73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представлены инструментальные средства для разработки программного продукта, 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...... (клиент-серверная; )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клиента использовалось веб инструменты: 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сервера использовалось: …… 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проектирования….. Использовались …. Для…….. 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ПРОСТО ПЕРЕЧИСЛИТЬ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9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 базы данных, была построена ER-модель базы данных ……., которая содержит …..  таблиц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890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процессе проектирования построена схема навигации, которая представлена на слайде.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06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Демонстрация программного продукта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При работе выделены … (количество)  ролей, (назвать кто ) ….</a:t>
            </a:r>
          </a:p>
          <a:p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демонстрируем под заявленный функционал каждой роли (открыть в разных браузерах заранее)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29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Таким образом в процессе дипломного проектирования продемонстрирован (вставить вид деятельности) в части реализации функционала (вставить) , </a:t>
            </a:r>
          </a:p>
          <a:p>
            <a:r>
              <a:rPr lang="ru-RU" dirty="0"/>
              <a:t>также было выполнено …… (вставить вид деятельности) через (…..вставить) , </a:t>
            </a:r>
          </a:p>
          <a:p>
            <a:endParaRPr lang="ru-RU" dirty="0"/>
          </a:p>
          <a:p>
            <a:r>
              <a:rPr lang="ru-RU" dirty="0"/>
              <a:t>В результате все цели (функциональные задачи) достигнуты (выполнены). Спасибо.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5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B4493-E3C8-4013-ABF2-C703136AD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3EEDF8-475E-477C-A987-9B23A9803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BE86E1-9F5F-4CEA-9D81-1F2C8E07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BC3810-D6CA-4B12-8AA5-7DF5CF3DD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9063BE-EA16-48A3-8992-B29920A9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57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051D6-DACB-4E1D-B3E0-21F301A0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31C8D4-6D3B-47D5-8ECA-4F425CA30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3EBD8D-49BF-4A85-BA57-68ACD048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18BAA-0EBC-4340-9638-224B4EABD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A35976-5D74-40E0-B296-CE85083F7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50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989C5-6A8D-4F34-9C66-848ABDAD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22CCB1-09A5-4E67-BCED-44887574F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591265-AA85-4038-980E-0E4D6AC21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59D130-0296-4360-ADC0-0EEDB20F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F94C0C-4CED-4A84-A745-4ED26194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505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F1C38-6D54-43A4-9A28-970F3680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D84946-3751-48EB-9B3F-73DBB7897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62CF63-5B79-45B2-B784-CE7648A1B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C32103-57A4-490F-A727-8370FC70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4ACB28-912D-46D0-9020-F3461B91B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EDB07B-116C-495A-A810-C2CA4898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07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3607E-AEE7-45E8-973F-C6A0F44E6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8246A5-1EA2-4060-88B9-AEEF4D4BA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B82C7B-9FB3-42C3-B7F9-D83006499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F208E3-7A6B-44D3-AAE0-436FC7D3D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5BEA751-75E2-4770-AC4C-ABDE479A7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C2F5611-7733-484E-B406-9B1D29C9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E223BB-96A8-4AA5-BDC6-57A8ECBA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96D070-498B-4DC0-BD7D-0D38BAB0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72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8CAC72-5242-47A2-8742-679E93210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1C6E1FF-3A97-4325-8E27-8C31D4BC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E619FB1-8673-4A00-BB46-FEE2384C2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0E1D98-B347-40A5-A48A-99A25F2B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51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D3D4373-5614-495A-A779-7A5B480A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D325AA6-96C1-4630-B4DE-BC098226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F2DB7E-3440-41AF-915A-C05E90C7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89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CD6E2C-BCA5-41E4-892B-2B8A35CD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BABE5-695C-4FC0-8127-36E6EF69E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FCF46C-D2D9-45FE-B285-2BEFDBA83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008DD-915F-4D6B-9B4C-5ADD4E2C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79F4DB-73B0-4276-897E-D7ABFC42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385446-C9EA-40EB-ACC5-3DE52791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66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0478C-6799-43DC-97FA-9113AFCBB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EFE25A-252C-487C-AD6C-CE86A769D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1453A1-AD3C-47A3-9BB6-8A5066112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20D80D-D7EB-4833-8538-CC4E43070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705F5C-D657-4864-A677-2C6394448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B13AE1-764F-405F-BD36-3EEF63317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7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067077-9B49-47B9-A5FE-80CD7FA38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3BF900-CE03-4A93-8FF9-2AA3ADEC7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AA9DC2-1C89-4838-9CDF-84897948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EB5615-1957-41FA-A180-3CC494ED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583B74-F5C4-4A0F-9A7B-44261E1E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16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81D8D13-5A14-4577-BF7A-F20310C58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62C0B2-95FF-43B8-AC2D-08DD1E50D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B28C0F-C092-4F04-9B00-B43B2B15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94C4DC-42C2-4D75-BE1B-ED3AAB95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95503A-4B2D-49DD-9141-91EF78BF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63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A723B-5719-4EEA-B777-EAF3DA7FDF21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A5C1-EBA6-4D9B-83CC-431CB510693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883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2CF29-2723-4C42-8522-1A6544C4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B6F97B-9842-48C5-BF92-7072EB4B4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D38571-CFC5-4622-B376-FD998376A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76DA3-B598-4B8A-8255-3391DDF783A7}" type="datetimeFigureOut">
              <a:rPr lang="ru-RU" smtClean="0"/>
              <a:t>01.06.2026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B80B3E-3EC7-431D-B69D-1ABB7A9AD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C3BBBD-9C88-4C2B-BC40-290AFD477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321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7F0CE69-87EB-4A20-A6B5-BB5F26E30EFE}"/>
              </a:ext>
            </a:extLst>
          </p:cNvPr>
          <p:cNvSpPr txBox="1">
            <a:spLocks/>
          </p:cNvSpPr>
          <p:nvPr/>
        </p:nvSpPr>
        <p:spPr>
          <a:xfrm>
            <a:off x="2956347" y="2166319"/>
            <a:ext cx="6279306" cy="22331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/>
            <a:r>
              <a:rPr lang="ru-RU" sz="44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Дипломный проект </a:t>
            </a:r>
          </a:p>
          <a:p>
            <a:pPr marL="182880"/>
            <a:r>
              <a:rPr lang="ru-RU" sz="4400" dirty="0">
                <a:solidFill>
                  <a:srgbClr val="905A8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Интернет-магазин сумок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5634B-476B-4A2F-BF93-37FB94D1551F}"/>
              </a:ext>
            </a:extLst>
          </p:cNvPr>
          <p:cNvSpPr txBox="1"/>
          <p:nvPr/>
        </p:nvSpPr>
        <p:spPr>
          <a:xfrm>
            <a:off x="3273112" y="328071"/>
            <a:ext cx="56457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образовательное учреждение Иркутской области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«Иркутский авиационный техникум»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(ГБПОУИО «ИАТ»)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D5ABF-E9F4-4772-9280-5F7BA2804737}"/>
              </a:ext>
            </a:extLst>
          </p:cNvPr>
          <p:cNvSpPr txBox="1"/>
          <p:nvPr/>
        </p:nvSpPr>
        <p:spPr>
          <a:xfrm>
            <a:off x="7123679" y="4910703"/>
            <a:ext cx="52149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Выполнил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Грищенко Ксения Петровна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Группа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ВЕБ 22-2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Бянкина 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Татьяна Андреевна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5E94D-A645-4282-9D38-7B7D367B8784}"/>
              </a:ext>
            </a:extLst>
          </p:cNvPr>
          <p:cNvSpPr txBox="1"/>
          <p:nvPr/>
        </p:nvSpPr>
        <p:spPr>
          <a:xfrm>
            <a:off x="9731159" y="55990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01F7D-6C97-4306-9332-2700335BDBB5}"/>
              </a:ext>
            </a:extLst>
          </p:cNvPr>
          <p:cNvSpPr txBox="1"/>
          <p:nvPr/>
        </p:nvSpPr>
        <p:spPr>
          <a:xfrm>
            <a:off x="5356310" y="634526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Иркутск 2026</a:t>
            </a:r>
          </a:p>
        </p:txBody>
      </p:sp>
    </p:spTree>
    <p:extLst>
      <p:ext uri="{BB962C8B-B14F-4D97-AF65-F5344CB8AC3E}">
        <p14:creationId xmlns:p14="http://schemas.microsoft.com/office/powerpoint/2010/main" val="2761480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5F768B2-AD3E-48D3-8D9E-B85855A1D699}"/>
              </a:ext>
            </a:extLst>
          </p:cNvPr>
          <p:cNvSpPr txBox="1">
            <a:spLocks/>
          </p:cNvSpPr>
          <p:nvPr/>
        </p:nvSpPr>
        <p:spPr>
          <a:xfrm>
            <a:off x="1778575" y="232584"/>
            <a:ext cx="8634849" cy="14323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 дипломного проектирования 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5B4357-85C4-48BF-8D26-ED26BD6CFFAD}"/>
              </a:ext>
            </a:extLst>
          </p:cNvPr>
          <p:cNvSpPr txBox="1">
            <a:spLocks/>
          </p:cNvSpPr>
          <p:nvPr/>
        </p:nvSpPr>
        <p:spPr>
          <a:xfrm>
            <a:off x="387439" y="1779469"/>
            <a:ext cx="5895118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дипломного проектирования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дипломного проектирования является создание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интернет-магазина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сумок,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 будет обеспечивать удобную навигацию для пользователя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поддерживать оформления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заказа,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бонусную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систему и отзывы,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 также разграничивать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между ролями (пользователь, менеджер, администратор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Font typeface="Arial" panose="020B0604020202020204" pitchFamily="34" charset="0"/>
              <a:buNone/>
            </a:pPr>
            <a:endParaRPr lang="ru-R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A046-37F4-4DE3-B662-ED8DB0206F28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D6FD72F-91C7-4F3D-B4FA-3362BA398D1C}"/>
              </a:ext>
            </a:extLst>
          </p:cNvPr>
          <p:cNvSpPr txBox="1">
            <a:spLocks/>
          </p:cNvSpPr>
          <p:nvPr/>
        </p:nvSpPr>
        <p:spPr>
          <a:xfrm>
            <a:off x="6597533" y="2084236"/>
            <a:ext cx="5507001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65100" lvl="0" indent="0" algn="just">
              <a:spcAft>
                <a:spcPts val="0"/>
              </a:spcAft>
              <a:buNone/>
            </a:pPr>
            <a:endParaRPr lang="ru-RU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19720AC8-DF0D-4A16-BF85-60B8C88DC2B2}"/>
              </a:ext>
            </a:extLst>
          </p:cNvPr>
          <p:cNvSpPr/>
          <p:nvPr/>
        </p:nvSpPr>
        <p:spPr>
          <a:xfrm>
            <a:off x="171450" y="1664898"/>
            <a:ext cx="6025727" cy="3097601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96F52C21-2652-46DA-B497-0D482200B3F5}"/>
              </a:ext>
            </a:extLst>
          </p:cNvPr>
          <p:cNvSpPr/>
          <p:nvPr/>
        </p:nvSpPr>
        <p:spPr>
          <a:xfrm>
            <a:off x="6266758" y="1772399"/>
            <a:ext cx="5768196" cy="408327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0AAF30C-A17C-40D2-9D79-04E033A3F7A3}"/>
              </a:ext>
            </a:extLst>
          </p:cNvPr>
          <p:cNvSpPr/>
          <p:nvPr/>
        </p:nvSpPr>
        <p:spPr>
          <a:xfrm>
            <a:off x="6597533" y="2045420"/>
            <a:ext cx="6096000" cy="3335144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ru-RU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Задачи дипломного проектирования</a:t>
            </a:r>
            <a:r>
              <a:rPr lang="en-US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810260" algn="l"/>
              </a:tabLs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Описание предметной области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810260" algn="l"/>
              </a:tabLst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Обзор инструментальных средств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540385" algn="l"/>
                <a:tab pos="810260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архитектуры программного продукта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540385" algn="l"/>
                <a:tab pos="810260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технического задания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540385" algn="l"/>
                <a:tab pos="810260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программного продукта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540385" algn="l"/>
                <a:tab pos="810260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базы данных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540385" algn="l"/>
                <a:tab pos="810260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Проектирование пользовательского интерфейса</a:t>
            </a:r>
          </a:p>
          <a:p>
            <a:pPr marL="342900" lvl="0" indent="-342900" algn="just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tabLst>
                <a:tab pos="540385" algn="l"/>
                <a:tab pos="810260" algn="l"/>
              </a:tabLs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продукта</a:t>
            </a:r>
          </a:p>
        </p:txBody>
      </p:sp>
    </p:spTree>
    <p:extLst>
      <p:ext uri="{BB962C8B-B14F-4D97-AF65-F5344CB8AC3E}">
        <p14:creationId xmlns:p14="http://schemas.microsoft.com/office/powerpoint/2010/main" val="344848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5F768B2-AD3E-48D3-8D9E-B85855A1D699}"/>
              </a:ext>
            </a:extLst>
          </p:cNvPr>
          <p:cNvSpPr txBox="1">
            <a:spLocks/>
          </p:cNvSpPr>
          <p:nvPr/>
        </p:nvSpPr>
        <p:spPr>
          <a:xfrm>
            <a:off x="3298927" y="290048"/>
            <a:ext cx="59182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rgbClr val="7030A0"/>
                </a:solidFill>
              </a:rPr>
              <a:t>Предметная дипломного проекта</a:t>
            </a:r>
            <a:r>
              <a:rPr lang="en-US" sz="3200" b="1" dirty="0">
                <a:solidFill>
                  <a:srgbClr val="7030A0"/>
                </a:solidFill>
              </a:rPr>
              <a:t> </a:t>
            </a:r>
            <a:endParaRPr lang="ru-RU" sz="3200" b="1" i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5B4357-85C4-48BF-8D26-ED26BD6CFFAD}"/>
              </a:ext>
            </a:extLst>
          </p:cNvPr>
          <p:cNvSpPr txBox="1">
            <a:spLocks/>
          </p:cNvSpPr>
          <p:nvPr/>
        </p:nvSpPr>
        <p:spPr>
          <a:xfrm>
            <a:off x="774912" y="1617946"/>
            <a:ext cx="4465906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A046-37F4-4DE3-B662-ED8DB0206F28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D6FD72F-91C7-4F3D-B4FA-3362BA398D1C}"/>
              </a:ext>
            </a:extLst>
          </p:cNvPr>
          <p:cNvSpPr txBox="1">
            <a:spLocks/>
          </p:cNvSpPr>
          <p:nvPr/>
        </p:nvSpPr>
        <p:spPr>
          <a:xfrm>
            <a:off x="6604486" y="1462655"/>
            <a:ext cx="5507001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65100" lvl="0" indent="0" algn="just">
              <a:spcAft>
                <a:spcPts val="0"/>
              </a:spcAft>
              <a:buNone/>
            </a:pPr>
            <a:endParaRPr lang="ru-RU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15DF489-DB75-4990-9A49-6C519BE16F94}"/>
              </a:ext>
            </a:extLst>
          </p:cNvPr>
          <p:cNvSpPr/>
          <p:nvPr/>
        </p:nvSpPr>
        <p:spPr>
          <a:xfrm>
            <a:off x="219969" y="1706151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Интернет-магазин сумок предлагает удобную навигацию по каталогу с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фильтрацией.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 каждого товара есть фотография, краткое описание и основные характеристики. Пользователи могут регистрироваться, добавлять товары в избранное и корзину, изменять количество или удалять позиции, а также оформлять заказ с указанием адреса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доставки и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способа оплаты.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 управляет всеми данными (товары, категории, бренды, заказы, отзывы, пользователи), а также обеспечивает техническую поддержку и развитие магазина.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Целевая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аудитория – женщины 20 – 45 лет и мужчины, приобретающие сумки и аксессуары для работы или повседневного использования.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0A2C55E-78C0-4BFD-8BE5-F5C5B3D011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969" y="2018055"/>
            <a:ext cx="5661675" cy="3777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06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9CFF2710-5C29-443A-A696-F9786282AB5C}"/>
              </a:ext>
            </a:extLst>
          </p:cNvPr>
          <p:cNvSpPr txBox="1">
            <a:spLocks/>
          </p:cNvSpPr>
          <p:nvPr/>
        </p:nvSpPr>
        <p:spPr>
          <a:xfrm>
            <a:off x="1699404" y="-100195"/>
            <a:ext cx="928202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Инструментальные средства разработки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B48BD70D-31AF-4588-958D-B470BEDBD8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673051"/>
              </p:ext>
            </p:extLst>
          </p:nvPr>
        </p:nvGraphicFramePr>
        <p:xfrm>
          <a:off x="470074" y="1024906"/>
          <a:ext cx="11176642" cy="53483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142874">
                  <a:extLst>
                    <a:ext uri="{9D8B030D-6E8A-4147-A177-3AD203B41FA5}">
                      <a16:colId xmlns:a16="http://schemas.microsoft.com/office/drawing/2014/main" val="489332136"/>
                    </a:ext>
                  </a:extLst>
                </a:gridCol>
                <a:gridCol w="3309788">
                  <a:extLst>
                    <a:ext uri="{9D8B030D-6E8A-4147-A177-3AD203B41FA5}">
                      <a16:colId xmlns:a16="http://schemas.microsoft.com/office/drawing/2014/main" val="699667990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3597329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Этап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Изображение (логотип)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Название инструмента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68126"/>
                  </a:ext>
                </a:extLst>
              </a:tr>
              <a:tr h="71212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диаграмм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Draw.io</a:t>
                      </a:r>
                      <a:endParaRPr lang="ru-RU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9065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u="none" strike="noStrike" baseline="0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MySQL</a:t>
                      </a:r>
                      <a:r>
                        <a:rPr lang="ru-RU" sz="1800" b="1" i="0" u="none" strike="noStrike" baseline="0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ru-RU" sz="1800" b="1" i="0" u="none" strike="noStrike" baseline="0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Workbench</a:t>
                      </a:r>
                      <a:endParaRPr lang="ru-RU" sz="1800" b="1" i="0" u="none" strike="noStrike" baseline="0" noProof="0" dirty="0">
                        <a:solidFill>
                          <a:schemeClr val="tx1"/>
                        </a:solidFill>
                        <a:latin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179013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Реализация базы данных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800" b="1" i="0" u="none" strike="noStrike" baseline="0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MySQL</a:t>
                      </a:r>
                      <a:endParaRPr lang="ru-RU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248937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Проектирование интерфейса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Figma</a:t>
                      </a:r>
                      <a:endParaRPr lang="ru-RU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6054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Реализация (среда разработки)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i="0" u="none" strike="noStrike" baseline="0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Visual</a:t>
                      </a:r>
                      <a:r>
                        <a:rPr lang="ru-RU" sz="1800" b="1" i="0" u="none" strike="noStrike" baseline="0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ru-RU" sz="1800" b="1" i="0" u="none" strike="noStrike" baseline="0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Studio</a:t>
                      </a:r>
                      <a:r>
                        <a:rPr lang="ru-RU" sz="1800" b="1" i="0" u="none" strike="noStrike" baseline="0" noProof="0" dirty="0">
                          <a:solidFill>
                            <a:schemeClr val="tx1"/>
                          </a:solidFill>
                          <a:latin typeface="Arial"/>
                        </a:rPr>
                        <a:t> </a:t>
                      </a:r>
                      <a:r>
                        <a:rPr lang="ru-RU" sz="1800" b="1" i="0" u="none" strike="noStrike" baseline="0" noProof="0" dirty="0" err="1">
                          <a:solidFill>
                            <a:schemeClr val="tx1"/>
                          </a:solidFill>
                          <a:latin typeface="Arial"/>
                        </a:rPr>
                        <a:t>Code</a:t>
                      </a:r>
                      <a:endParaRPr lang="ru-RU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0058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Реализация (инструменты, языки)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PHP,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Arial"/>
                          <a:cs typeface="Arial"/>
                        </a:rPr>
                        <a:t>JavaScript</a:t>
                      </a:r>
                      <a:endParaRPr lang="ru-RU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000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Разработка (фреймворки)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Laravel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</a:t>
                      </a:r>
                      <a:r>
                        <a:rPr lang="ru-RU" b="1" baseline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b="1" baseline="0" dirty="0" err="1" smtClean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Vue</a:t>
                      </a:r>
                      <a:endParaRPr lang="ru-RU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0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Тестирование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err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PHPUnit</a:t>
                      </a:r>
                      <a:endParaRPr lang="ru-RU" b="1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27718"/>
                  </a:ext>
                </a:extLst>
              </a:tr>
            </a:tbl>
          </a:graphicData>
        </a:graphic>
      </p:graphicFrame>
      <p:sp>
        <p:nvSpPr>
          <p:cNvPr id="6" name="AutoShape 4" descr="Visual Studio Code Logo Vector SVG Icon - SVG Repo">
            <a:extLst>
              <a:ext uri="{FF2B5EF4-FFF2-40B4-BE49-F238E27FC236}">
                <a16:creationId xmlns:a16="http://schemas.microsoft.com/office/drawing/2014/main" id="{FD79F5A1-B225-4765-B243-43A7D0327C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CF444B-5BC2-419D-85AC-7F8C28A447C8}"/>
              </a:ext>
            </a:extLst>
          </p:cNvPr>
          <p:cNvSpPr txBox="1"/>
          <p:nvPr/>
        </p:nvSpPr>
        <p:spPr>
          <a:xfrm>
            <a:off x="11646716" y="6421554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4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8EC3723-DF33-454F-8E62-C48D9ED19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729" y="1467689"/>
            <a:ext cx="461342" cy="461342"/>
          </a:xfrm>
          <a:prstGeom prst="rect">
            <a:avLst/>
          </a:prstGeom>
        </p:spPr>
      </p:pic>
      <p:pic>
        <p:nvPicPr>
          <p:cNvPr id="8" name="Рисунок 7" descr="Изображение выглядит как Шрифт, Графика, логотип, вод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01295FD-CFE4-4066-A7A7-8C5D058F7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729" y="2185095"/>
            <a:ext cx="489420" cy="470597"/>
          </a:xfrm>
          <a:prstGeom prst="rect">
            <a:avLst/>
          </a:prstGeom>
        </p:spPr>
      </p:pic>
      <p:pic>
        <p:nvPicPr>
          <p:cNvPr id="9" name="Рисунок 8" descr="Изображение выглядит как Графика, логотип, Шрифт, графический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3CEF8B0-E9D3-4B3E-A8B1-29218F9C02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756" y="2827648"/>
            <a:ext cx="789365" cy="448952"/>
          </a:xfrm>
          <a:prstGeom prst="rect">
            <a:avLst/>
          </a:prstGeom>
        </p:spPr>
      </p:pic>
      <p:pic>
        <p:nvPicPr>
          <p:cNvPr id="10" name="Рисунок 9" descr="Изображение выглядит как Графика, Шрифт, графический дизайн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15030A3-25D5-4DE5-A5B5-7FD353B661C3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476" t="15976" r="-5826" b="10413"/>
          <a:stretch/>
        </p:blipFill>
        <p:spPr>
          <a:xfrm>
            <a:off x="5867756" y="3487689"/>
            <a:ext cx="838219" cy="404004"/>
          </a:xfrm>
          <a:prstGeom prst="rect">
            <a:avLst/>
          </a:prstGeom>
        </p:spPr>
      </p:pic>
      <p:pic>
        <p:nvPicPr>
          <p:cNvPr id="11" name="Рисунок 10" descr="Изображение выглядит как символ, Цвет электрик, Прямоугольник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CFD841-B071-4D2C-A2FF-C37F02AD3F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2758" y="4137418"/>
            <a:ext cx="408213" cy="392905"/>
          </a:xfrm>
          <a:prstGeom prst="rect">
            <a:avLst/>
          </a:prstGeom>
        </p:spPr>
      </p:pic>
      <p:pic>
        <p:nvPicPr>
          <p:cNvPr id="12" name="Рисунок 11" descr="Изображение выглядит как мультфильм, графическая вставка, рисунок, сло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78B2A37-C152-40C8-A378-A7E82E70B5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00709" y="4817986"/>
            <a:ext cx="392938" cy="324174"/>
          </a:xfrm>
          <a:prstGeom prst="rect">
            <a:avLst/>
          </a:prstGeom>
        </p:spPr>
      </p:pic>
      <p:pic>
        <p:nvPicPr>
          <p:cNvPr id="13" name="Рисунок 12" descr="Изображение выглядит как Шрифт, символ, Графика, логотип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F3A4A39-A1BF-4DD0-A3E0-E0EE64C38A4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6114" y="4817986"/>
            <a:ext cx="382069" cy="334134"/>
          </a:xfrm>
          <a:prstGeom prst="rect">
            <a:avLst/>
          </a:prstGeom>
        </p:spPr>
      </p:pic>
      <p:pic>
        <p:nvPicPr>
          <p:cNvPr id="14" name="Рисунок 13" descr="Изображение выглядит как логотип, символ, Шрифт, График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9188E62-3355-451D-B775-89CD6876B19D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1997" t="15688" r="22989" b="9501"/>
          <a:stretch/>
        </p:blipFill>
        <p:spPr>
          <a:xfrm>
            <a:off x="5578823" y="5456616"/>
            <a:ext cx="577866" cy="39290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6A96D59-DC46-4B75-B505-2EA4BBF6D5E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812806" y="23989366"/>
            <a:ext cx="46598" cy="45719"/>
          </a:xfrm>
          <a:prstGeom prst="rect">
            <a:avLst/>
          </a:prstGeom>
        </p:spPr>
      </p:pic>
      <p:pic>
        <p:nvPicPr>
          <p:cNvPr id="16" name="Picture 2" descr="Изучить phpUnit">
            <a:extLst>
              <a:ext uri="{FF2B5EF4-FFF2-40B4-BE49-F238E27FC236}">
                <a16:creationId xmlns:a16="http://schemas.microsoft.com/office/drawing/2014/main" id="{30F46B31-20F8-478A-B8EC-4F6B6DEB48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96" t="35474" r="17899" b="35214"/>
          <a:stretch/>
        </p:blipFill>
        <p:spPr bwMode="auto">
          <a:xfrm>
            <a:off x="5689442" y="6014126"/>
            <a:ext cx="1117916" cy="276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114" y="5461359"/>
            <a:ext cx="498435" cy="43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12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1649" y="141241"/>
            <a:ext cx="6388699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базы 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B9F4FE-3FA8-43BD-A563-A96EBAA4E414}"/>
              </a:ext>
            </a:extLst>
          </p:cNvPr>
          <p:cNvSpPr txBox="1"/>
          <p:nvPr/>
        </p:nvSpPr>
        <p:spPr>
          <a:xfrm>
            <a:off x="5417036" y="1320119"/>
            <a:ext cx="2424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ER-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модель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5</a:t>
            </a:r>
          </a:p>
        </p:txBody>
      </p:sp>
      <p:pic>
        <p:nvPicPr>
          <p:cNvPr id="6" name="Рисунок 5"/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33" b="3467"/>
          <a:stretch/>
        </p:blipFill>
        <p:spPr bwMode="auto">
          <a:xfrm>
            <a:off x="3619180" y="1859561"/>
            <a:ext cx="4953635" cy="4468668"/>
          </a:xfrm>
          <a:prstGeom prst="rect">
            <a:avLst/>
          </a:prstGeom>
          <a:ln w="12700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04169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1574" y="169580"/>
            <a:ext cx="7228850" cy="1143000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схемы навигации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A88024-58AE-44C6-B20D-7F9EE8573855}"/>
              </a:ext>
            </a:extLst>
          </p:cNvPr>
          <p:cNvSpPr txBox="1"/>
          <p:nvPr/>
        </p:nvSpPr>
        <p:spPr>
          <a:xfrm>
            <a:off x="11500635" y="632662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1DCDAC1-E1BF-4EE4-8F5E-517F04211AC9}"/>
              </a:ext>
            </a:extLst>
          </p:cNvPr>
          <p:cNvSpPr/>
          <p:nvPr/>
        </p:nvSpPr>
        <p:spPr>
          <a:xfrm>
            <a:off x="3684537" y="1127914"/>
            <a:ext cx="4822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Схема навигации интернет-магазина сумок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7528" y="1497246"/>
            <a:ext cx="6676939" cy="444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934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0BC0C-F276-4244-A7CD-BD0F4DCD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8325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Демонстрация дипломного продукта</a:t>
            </a:r>
            <a:endParaRPr lang="ru-RU" dirty="0">
              <a:solidFill>
                <a:srgbClr val="7030A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BD571-39F3-4865-BB27-AA37ACFF1329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6539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03DB970B-9C80-46DC-8E32-7C5FC800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267" y="81542"/>
            <a:ext cx="3643659" cy="69218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b="1" dirty="0">
                <a:solidFill>
                  <a:srgbClr val="7030A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2937D-A278-4C52-9A34-EB4FF55CE159}"/>
              </a:ext>
            </a:extLst>
          </p:cNvPr>
          <p:cNvSpPr txBox="1"/>
          <p:nvPr/>
        </p:nvSpPr>
        <p:spPr>
          <a:xfrm>
            <a:off x="11567585" y="637876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>
                <a:solidFill>
                  <a:schemeClr val="accent1"/>
                </a:solidFill>
              </a:rPr>
              <a:t>8</a:t>
            </a:r>
            <a:endParaRPr lang="ru-RU" sz="2000" b="1" dirty="0">
              <a:solidFill>
                <a:schemeClr val="accent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F3AF087-7F16-4D4B-BE0E-647816F63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597614"/>
              </p:ext>
            </p:extLst>
          </p:nvPr>
        </p:nvGraphicFramePr>
        <p:xfrm>
          <a:off x="324149" y="649978"/>
          <a:ext cx="11215893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74373">
                  <a:extLst>
                    <a:ext uri="{9D8B030D-6E8A-4147-A177-3AD203B41FA5}">
                      <a16:colId xmlns:a16="http://schemas.microsoft.com/office/drawing/2014/main" val="768004564"/>
                    </a:ext>
                  </a:extLst>
                </a:gridCol>
                <a:gridCol w="6041520">
                  <a:extLst>
                    <a:ext uri="{9D8B030D-6E8A-4147-A177-3AD203B41FA5}">
                      <a16:colId xmlns:a16="http://schemas.microsoft.com/office/drawing/2014/main" val="24764890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Виды деятельности: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Функциональные задачи программного продукта:</a:t>
                      </a:r>
                      <a:endParaRPr lang="ru-RU" sz="1800" b="1" dirty="0">
                        <a:solidFill>
                          <a:schemeClr val="tx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ru-RU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19887"/>
                  </a:ext>
                </a:extLst>
              </a:tr>
              <a:tr h="451729">
                <a:tc>
                  <a:txBody>
                    <a:bodyPr/>
                    <a:lstStyle/>
                    <a:p>
                      <a:pPr lvl="0"/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Проектирование и разработка информационных систем </a:t>
                      </a:r>
                    </a:p>
                    <a:p>
                      <a:endParaRPr lang="ru-RU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165100" lvl="0" indent="-342900" algn="just">
                        <a:spcAft>
                          <a:spcPts val="0"/>
                        </a:spcAft>
                        <a:buFont typeface="Symbol" panose="05050102010706020507" pitchFamily="18" charset="2"/>
                        <a:buAutoNum type="arabicPeriod"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 предметной области</a:t>
                      </a:r>
                    </a:p>
                    <a:p>
                      <a:pPr marL="342900" marR="165100" lvl="0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AutoNum type="arabicPeriod"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Проектирование базы данных</a:t>
                      </a:r>
                    </a:p>
                    <a:p>
                      <a:pPr marL="342900" marR="165100" lvl="0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AutoNum type="arabicPeriod"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документации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808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/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Разработка дизайна веб-приложений </a:t>
                      </a:r>
                    </a:p>
                    <a:p>
                      <a:endParaRPr lang="ru-RU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Создание пользовательского интерфейса интернет-магазина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Выбор цветовой гаммы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прототипов и макетов страниц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адаптивного дизайна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Проектирование схемы навигации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0326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/>
                      <a:r>
                        <a:rPr lang="ru-RU" sz="1800" b="1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Проектирование, разработка и оптимизация веб-приложений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165100" lvl="0" indent="-342900" algn="just">
                        <a:spcAft>
                          <a:spcPts val="0"/>
                        </a:spcAft>
                        <a:buFont typeface="Symbol" panose="05050102010706020507" pitchFamily="18" charset="2"/>
                        <a:buAutoNum type="arabicPeriod"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Проектирование архитектуры</a:t>
                      </a:r>
                    </a:p>
                    <a:p>
                      <a:pPr marL="342900" marR="165100" lvl="0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AutoNum type="arabicPeriod"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Тестирование функционала интернет-магазина</a:t>
                      </a:r>
                    </a:p>
                    <a:p>
                      <a:pPr marL="342900" marR="165100" lvl="0" indent="-342900" algn="just">
                        <a:spcAft>
                          <a:spcPts val="0"/>
                        </a:spcAft>
                        <a:buFont typeface="Symbol" panose="05050102010706020507" pitchFamily="18" charset="2"/>
                        <a:buAutoNum type="arabicPeriod"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Подключение базы данных</a:t>
                      </a:r>
                    </a:p>
                    <a:p>
                      <a:pPr marL="342900" marR="165100" lvl="0" indent="-342900" algn="just">
                        <a:spcAft>
                          <a:spcPts val="0"/>
                        </a:spcAft>
                        <a:buFont typeface="Symbol" panose="05050102010706020507" pitchFamily="18" charset="2"/>
                        <a:buAutoNum type="arabicPeriod"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Оптимизация производительности</a:t>
                      </a:r>
                    </a:p>
                    <a:p>
                      <a:pPr marL="342900" marR="165100" lvl="0" indent="-34290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AutoNum type="arabicPeriod"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клиентской и серверной части для ролей:</a:t>
                      </a: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− </a:t>
                      </a:r>
                      <a:r>
                        <a:rPr lang="ru-RU" sz="1800" b="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Менеджер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− Пользователь</a:t>
                      </a:r>
                      <a:endParaRPr lang="en-US" sz="1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16510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ru-RU" sz="1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− Администратор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5231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7958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875</TotalTime>
  <Words>575</Words>
  <Application>Microsoft Office PowerPoint</Application>
  <PresentationFormat>Широкоэкранный</PresentationFormat>
  <Paragraphs>121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Проектирование базы данных</vt:lpstr>
      <vt:lpstr>Проектирование схемы навигации</vt:lpstr>
      <vt:lpstr>Демонстрация дипломного продукта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_Moore.Skrim_</dc:creator>
  <cp:lastModifiedBy>я</cp:lastModifiedBy>
  <cp:revision>69</cp:revision>
  <dcterms:created xsi:type="dcterms:W3CDTF">2023-05-28T07:05:17Z</dcterms:created>
  <dcterms:modified xsi:type="dcterms:W3CDTF">2026-06-01T09:53:16Z</dcterms:modified>
</cp:coreProperties>
</file>